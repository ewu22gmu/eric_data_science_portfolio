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tackoverflow.com/questions/15388831/what-are-all-possible-pos-tags-of-nltk"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50dfc0177cd62b18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50dfc0177cd62b18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50dfc0177cd62b18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50dfc0177cd62b18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50dfc0177cd62b18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50dfc0177cd62b18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used os (file open) and regular expressions to read in the poem files for ec poems and manually pulled the poetry foundation poems using an api.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then read the csv files into pandas to transform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mainly used regex and nltk packages to remove stopwords for some analyses, stem, lemmatize, tokenize and find sentiment.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4a71454a1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4a71454a1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50dfc0177cd62b18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50dfc0177cd62b18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solidFill>
                  <a:srgbClr val="0C0D0E"/>
                </a:solidFill>
              </a:rPr>
              <a:t>CC</a:t>
            </a:r>
            <a:r>
              <a:rPr lang="en">
                <a:solidFill>
                  <a:srgbClr val="0C0D0E"/>
                </a:solidFill>
                <a:highlight>
                  <a:srgbClr val="FFFFFF"/>
                </a:highlight>
              </a:rPr>
              <a:t>: conjunction, coordinating </a:t>
            </a:r>
            <a:endParaRPr b="1">
              <a:solidFill>
                <a:srgbClr val="0C0D0E"/>
              </a:solidFill>
            </a:endParaRPr>
          </a:p>
          <a:p>
            <a:pPr indent="0" lvl="0" marL="0" rtl="0" algn="l">
              <a:lnSpc>
                <a:spcPct val="100000"/>
              </a:lnSpc>
              <a:spcBef>
                <a:spcPts val="0"/>
              </a:spcBef>
              <a:spcAft>
                <a:spcPts val="0"/>
              </a:spcAft>
              <a:buNone/>
            </a:pPr>
            <a:r>
              <a:rPr b="1" lang="en">
                <a:solidFill>
                  <a:srgbClr val="0C0D0E"/>
                </a:solidFill>
              </a:rPr>
              <a:t>DT</a:t>
            </a:r>
            <a:r>
              <a:rPr lang="en">
                <a:solidFill>
                  <a:srgbClr val="0C0D0E"/>
                </a:solidFill>
                <a:highlight>
                  <a:srgbClr val="FFFFFF"/>
                </a:highlight>
              </a:rPr>
              <a:t>: determiner</a:t>
            </a:r>
            <a:endParaRPr>
              <a:solidFill>
                <a:srgbClr val="0C0D0E"/>
              </a:solidFill>
              <a:highlight>
                <a:srgbClr val="FFFFFF"/>
              </a:highlight>
            </a:endParaRPr>
          </a:p>
          <a:p>
            <a:pPr indent="0" lvl="0" marL="0" rtl="0" algn="l">
              <a:lnSpc>
                <a:spcPct val="100000"/>
              </a:lnSpc>
              <a:spcBef>
                <a:spcPts val="0"/>
              </a:spcBef>
              <a:spcAft>
                <a:spcPts val="0"/>
              </a:spcAft>
              <a:buNone/>
            </a:pPr>
            <a:r>
              <a:rPr b="1" lang="en">
                <a:solidFill>
                  <a:srgbClr val="0C0D0E"/>
                </a:solidFill>
              </a:rPr>
              <a:t>IN</a:t>
            </a:r>
            <a:r>
              <a:rPr lang="en">
                <a:solidFill>
                  <a:srgbClr val="0C0D0E"/>
                </a:solidFill>
                <a:highlight>
                  <a:srgbClr val="FFFFFF"/>
                </a:highlight>
              </a:rPr>
              <a:t>: preposition or conjunction, subordinating</a:t>
            </a:r>
            <a:endParaRPr>
              <a:solidFill>
                <a:srgbClr val="0C0D0E"/>
              </a:solidFill>
              <a:highlight>
                <a:srgbClr val="FFFFFF"/>
              </a:highlight>
            </a:endParaRPr>
          </a:p>
          <a:p>
            <a:pPr indent="0" lvl="0" marL="0" rtl="0" algn="l">
              <a:lnSpc>
                <a:spcPct val="100000"/>
              </a:lnSpc>
              <a:spcBef>
                <a:spcPts val="0"/>
              </a:spcBef>
              <a:spcAft>
                <a:spcPts val="0"/>
              </a:spcAft>
              <a:buNone/>
            </a:pPr>
            <a:r>
              <a:rPr b="1" lang="en">
                <a:solidFill>
                  <a:srgbClr val="0C0D0E"/>
                </a:solidFill>
              </a:rPr>
              <a:t>JJ</a:t>
            </a:r>
            <a:r>
              <a:rPr lang="en">
                <a:solidFill>
                  <a:srgbClr val="0C0D0E"/>
                </a:solidFill>
                <a:highlight>
                  <a:srgbClr val="FFFFFF"/>
                </a:highlight>
              </a:rPr>
              <a:t>: adjective or numeral, ordinal; </a:t>
            </a:r>
            <a:r>
              <a:rPr b="1" lang="en">
                <a:solidFill>
                  <a:srgbClr val="0C0D0E"/>
                </a:solidFill>
              </a:rPr>
              <a:t>JJR</a:t>
            </a:r>
            <a:r>
              <a:rPr lang="en">
                <a:solidFill>
                  <a:srgbClr val="0C0D0E"/>
                </a:solidFill>
                <a:highlight>
                  <a:srgbClr val="FFFFFF"/>
                </a:highlight>
              </a:rPr>
              <a:t>: adjective, comparative; </a:t>
            </a:r>
            <a:r>
              <a:rPr b="1" lang="en">
                <a:solidFill>
                  <a:srgbClr val="0C0D0E"/>
                </a:solidFill>
              </a:rPr>
              <a:t>JJS</a:t>
            </a:r>
            <a:r>
              <a:rPr lang="en">
                <a:solidFill>
                  <a:srgbClr val="0C0D0E"/>
                </a:solidFill>
                <a:highlight>
                  <a:srgbClr val="FFFFFF"/>
                </a:highlight>
              </a:rPr>
              <a:t>: adjective, superlative</a:t>
            </a:r>
            <a:endParaRPr>
              <a:solidFill>
                <a:srgbClr val="0C0D0E"/>
              </a:solidFill>
            </a:endParaRPr>
          </a:p>
          <a:p>
            <a:pPr indent="0" lvl="0" marL="0" rtl="0" algn="l">
              <a:lnSpc>
                <a:spcPct val="100000"/>
              </a:lnSpc>
              <a:spcBef>
                <a:spcPts val="0"/>
              </a:spcBef>
              <a:spcAft>
                <a:spcPts val="0"/>
              </a:spcAft>
              <a:buNone/>
            </a:pPr>
            <a:r>
              <a:rPr b="1" lang="en">
                <a:solidFill>
                  <a:srgbClr val="0C0D0E"/>
                </a:solidFill>
              </a:rPr>
              <a:t>MD</a:t>
            </a:r>
            <a:r>
              <a:rPr lang="en">
                <a:solidFill>
                  <a:srgbClr val="0C0D0E"/>
                </a:solidFill>
              </a:rPr>
              <a:t>: modal auxiliary</a:t>
            </a:r>
            <a:endParaRPr>
              <a:solidFill>
                <a:srgbClr val="0C0D0E"/>
              </a:solidFill>
            </a:endParaRPr>
          </a:p>
          <a:p>
            <a:pPr indent="0" lvl="0" marL="0" rtl="0" algn="l">
              <a:lnSpc>
                <a:spcPct val="100000"/>
              </a:lnSpc>
              <a:spcBef>
                <a:spcPts val="0"/>
              </a:spcBef>
              <a:spcAft>
                <a:spcPts val="0"/>
              </a:spcAft>
              <a:buNone/>
            </a:pPr>
            <a:r>
              <a:rPr b="1" lang="en">
                <a:solidFill>
                  <a:srgbClr val="0C0D0E"/>
                </a:solidFill>
              </a:rPr>
              <a:t>NN</a:t>
            </a:r>
            <a:r>
              <a:rPr lang="en">
                <a:solidFill>
                  <a:srgbClr val="0C0D0E"/>
                </a:solidFill>
              </a:rPr>
              <a:t>: noun, common, singular or mass; </a:t>
            </a:r>
            <a:r>
              <a:rPr b="1" lang="en">
                <a:solidFill>
                  <a:srgbClr val="0C0D0E"/>
                </a:solidFill>
              </a:rPr>
              <a:t>NNP</a:t>
            </a:r>
            <a:r>
              <a:rPr lang="en">
                <a:solidFill>
                  <a:srgbClr val="0C0D0E"/>
                </a:solidFill>
              </a:rPr>
              <a:t>: noun, proper, singular; </a:t>
            </a:r>
            <a:r>
              <a:rPr b="1" lang="en">
                <a:solidFill>
                  <a:srgbClr val="0C0D0E"/>
                </a:solidFill>
              </a:rPr>
              <a:t>NNS</a:t>
            </a:r>
            <a:r>
              <a:rPr lang="en">
                <a:solidFill>
                  <a:srgbClr val="0C0D0E"/>
                </a:solidFill>
              </a:rPr>
              <a:t>: noun, common, plural.</a:t>
            </a:r>
            <a:endParaRPr>
              <a:solidFill>
                <a:srgbClr val="0C0D0E"/>
              </a:solidFill>
            </a:endParaRPr>
          </a:p>
          <a:p>
            <a:pPr indent="0" lvl="0" marL="0" rtl="0" algn="l">
              <a:lnSpc>
                <a:spcPct val="100000"/>
              </a:lnSpc>
              <a:spcBef>
                <a:spcPts val="0"/>
              </a:spcBef>
              <a:spcAft>
                <a:spcPts val="0"/>
              </a:spcAft>
              <a:buNone/>
            </a:pPr>
            <a:r>
              <a:rPr b="1" lang="en">
                <a:solidFill>
                  <a:srgbClr val="0C0D0E"/>
                </a:solidFill>
              </a:rPr>
              <a:t>PRP</a:t>
            </a:r>
            <a:r>
              <a:rPr lang="en">
                <a:solidFill>
                  <a:srgbClr val="0C0D0E"/>
                </a:solidFill>
              </a:rPr>
              <a:t>: pronoun, personal; </a:t>
            </a:r>
            <a:r>
              <a:rPr b="1" lang="en">
                <a:solidFill>
                  <a:srgbClr val="0C0D0E"/>
                </a:solidFill>
              </a:rPr>
              <a:t>PRP</a:t>
            </a:r>
            <a:r>
              <a:rPr lang="en">
                <a:solidFill>
                  <a:srgbClr val="0C0D0E"/>
                </a:solidFill>
              </a:rPr>
              <a:t>$: pronoun, possessive</a:t>
            </a:r>
            <a:endParaRPr>
              <a:solidFill>
                <a:srgbClr val="0C0D0E"/>
              </a:solidFill>
            </a:endParaRPr>
          </a:p>
          <a:p>
            <a:pPr indent="0" lvl="0" marL="0" rtl="0" algn="l">
              <a:lnSpc>
                <a:spcPct val="100000"/>
              </a:lnSpc>
              <a:spcBef>
                <a:spcPts val="0"/>
              </a:spcBef>
              <a:spcAft>
                <a:spcPts val="0"/>
              </a:spcAft>
              <a:buNone/>
            </a:pPr>
            <a:r>
              <a:rPr b="1" lang="en">
                <a:solidFill>
                  <a:srgbClr val="0C0D0E"/>
                </a:solidFill>
              </a:rPr>
              <a:t>RB</a:t>
            </a:r>
            <a:r>
              <a:rPr lang="en">
                <a:solidFill>
                  <a:srgbClr val="0C0D0E"/>
                </a:solidFill>
              </a:rPr>
              <a:t>: adverb</a:t>
            </a:r>
            <a:endParaRPr>
              <a:solidFill>
                <a:srgbClr val="0C0D0E"/>
              </a:solidFill>
            </a:endParaRPr>
          </a:p>
          <a:p>
            <a:pPr indent="0" lvl="0" marL="0" rtl="0" algn="l">
              <a:lnSpc>
                <a:spcPct val="100000"/>
              </a:lnSpc>
              <a:spcBef>
                <a:spcPts val="0"/>
              </a:spcBef>
              <a:spcAft>
                <a:spcPts val="0"/>
              </a:spcAft>
              <a:buNone/>
            </a:pPr>
            <a:r>
              <a:rPr b="1" lang="en">
                <a:solidFill>
                  <a:srgbClr val="0C0D0E"/>
                </a:solidFill>
              </a:rPr>
              <a:t>TO</a:t>
            </a:r>
            <a:r>
              <a:rPr lang="en">
                <a:solidFill>
                  <a:srgbClr val="0C0D0E"/>
                </a:solidFill>
              </a:rPr>
              <a:t>: "to" as preposition or infinitive marker</a:t>
            </a:r>
            <a:endParaRPr>
              <a:solidFill>
                <a:srgbClr val="0C0D0E"/>
              </a:solidFill>
            </a:endParaRPr>
          </a:p>
          <a:p>
            <a:pPr indent="0" lvl="0" marL="0" rtl="0" algn="l">
              <a:lnSpc>
                <a:spcPct val="100000"/>
              </a:lnSpc>
              <a:spcBef>
                <a:spcPts val="0"/>
              </a:spcBef>
              <a:spcAft>
                <a:spcPts val="0"/>
              </a:spcAft>
              <a:buNone/>
            </a:pPr>
            <a:r>
              <a:rPr b="1" lang="en">
                <a:solidFill>
                  <a:srgbClr val="0C0D0E"/>
                </a:solidFill>
              </a:rPr>
              <a:t>VB</a:t>
            </a:r>
            <a:r>
              <a:rPr lang="en">
                <a:solidFill>
                  <a:srgbClr val="0C0D0E"/>
                </a:solidFill>
              </a:rPr>
              <a:t>: verb, base form; </a:t>
            </a:r>
            <a:r>
              <a:rPr b="1" lang="en">
                <a:solidFill>
                  <a:srgbClr val="0C0D0E"/>
                </a:solidFill>
              </a:rPr>
              <a:t>VBD</a:t>
            </a:r>
            <a:r>
              <a:rPr lang="en">
                <a:solidFill>
                  <a:srgbClr val="0C0D0E"/>
                </a:solidFill>
              </a:rPr>
              <a:t>: verb, past tense; </a:t>
            </a:r>
            <a:r>
              <a:rPr b="1" lang="en">
                <a:solidFill>
                  <a:srgbClr val="0C0D0E"/>
                </a:solidFill>
              </a:rPr>
              <a:t>VBG</a:t>
            </a:r>
            <a:r>
              <a:rPr lang="en">
                <a:solidFill>
                  <a:srgbClr val="0C0D0E"/>
                </a:solidFill>
              </a:rPr>
              <a:t>: verb, present participle or gerund; </a:t>
            </a:r>
            <a:r>
              <a:rPr b="1" lang="en">
                <a:solidFill>
                  <a:srgbClr val="0C0D0E"/>
                </a:solidFill>
              </a:rPr>
              <a:t>VBN</a:t>
            </a:r>
            <a:r>
              <a:rPr lang="en">
                <a:solidFill>
                  <a:srgbClr val="0C0D0E"/>
                </a:solidFill>
              </a:rPr>
              <a:t>: verb, past participle; </a:t>
            </a:r>
            <a:r>
              <a:rPr b="1" lang="en">
                <a:solidFill>
                  <a:srgbClr val="0C0D0E"/>
                </a:solidFill>
              </a:rPr>
              <a:t>VBP</a:t>
            </a:r>
            <a:r>
              <a:rPr lang="en">
                <a:solidFill>
                  <a:srgbClr val="0C0D0E"/>
                </a:solidFill>
              </a:rPr>
              <a:t>: verb, present tense, not 3rd person singular.; </a:t>
            </a:r>
            <a:r>
              <a:rPr b="1" lang="en">
                <a:solidFill>
                  <a:srgbClr val="0C0D0E"/>
                </a:solidFill>
              </a:rPr>
              <a:t>VBZ</a:t>
            </a:r>
            <a:r>
              <a:rPr lang="en">
                <a:solidFill>
                  <a:srgbClr val="0C0D0E"/>
                </a:solidFill>
              </a:rPr>
              <a:t>: verb, present tense, 3rd person singular.</a:t>
            </a:r>
            <a:endParaRPr>
              <a:solidFill>
                <a:srgbClr val="0C0D0E"/>
              </a:solidFill>
            </a:endParaRPr>
          </a:p>
          <a:p>
            <a:pPr indent="0" lvl="0" marL="0" rtl="0" algn="l">
              <a:lnSpc>
                <a:spcPct val="100000"/>
              </a:lnSpc>
              <a:spcBef>
                <a:spcPts val="1200"/>
              </a:spcBef>
              <a:spcAft>
                <a:spcPts val="0"/>
              </a:spcAft>
              <a:buNone/>
            </a:pPr>
            <a:r>
              <a:t/>
            </a:r>
            <a:endParaRPr>
              <a:solidFill>
                <a:srgbClr val="0C0D0E"/>
              </a:solidFill>
            </a:endParaRPr>
          </a:p>
          <a:p>
            <a:pPr indent="0" lvl="0" marL="0" rtl="0" algn="l">
              <a:lnSpc>
                <a:spcPct val="100000"/>
              </a:lnSpc>
              <a:spcBef>
                <a:spcPts val="1200"/>
              </a:spcBef>
              <a:spcAft>
                <a:spcPts val="0"/>
              </a:spcAft>
              <a:buClr>
                <a:schemeClr val="dk1"/>
              </a:buClr>
              <a:buSzPts val="1100"/>
              <a:buFont typeface="Arial"/>
              <a:buNone/>
            </a:pPr>
            <a:r>
              <a:rPr lang="en" u="sng">
                <a:solidFill>
                  <a:schemeClr val="hlink"/>
                </a:solidFill>
                <a:hlinkClick r:id="rId2"/>
              </a:rPr>
              <a:t>https://stackoverflow.com/questions/15388831/what-are-all-possible-pos-tags-of-nltk</a:t>
            </a:r>
            <a:endParaRPr>
              <a:solidFill>
                <a:srgbClr val="0C0D0E"/>
              </a:solidFill>
            </a:endParaRPr>
          </a:p>
          <a:p>
            <a:pPr indent="0" lvl="0" marL="0" rtl="0" algn="l">
              <a:spcBef>
                <a:spcPts val="1200"/>
              </a:spcBef>
              <a:spcAft>
                <a:spcPts val="0"/>
              </a:spcAft>
              <a:buNone/>
            </a:pPr>
            <a:r>
              <a:t/>
            </a:r>
            <a:endParaRPr sz="1150">
              <a:solidFill>
                <a:srgbClr val="0C0D0E"/>
              </a:solidFill>
              <a:highlight>
                <a:srgbClr val="FFFFFF"/>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a71454a1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a71454a1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there is not a large difference in jj/nn/vb at a macro level.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a71454a1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a71454a1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a71454a13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a71454a13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a71454a1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a71454a1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a71454a1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4a71454a1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derived syllable counts from lines, using ‘\n’ as the criteria for each line.</a:t>
            </a:r>
            <a:endParaRPr/>
          </a:p>
          <a:p>
            <a:pPr indent="0" lvl="0" marL="0" rtl="0" algn="l">
              <a:spcBef>
                <a:spcPts val="0"/>
              </a:spcBef>
              <a:spcAft>
                <a:spcPts val="0"/>
              </a:spcAft>
              <a:buNone/>
            </a:pPr>
            <a:r>
              <a:rPr lang="en"/>
              <a:t>I then used the cmudict corpus to get syllable counts for words and used a simple rule based approach to estimate words’ syllable counts that were not in the corpus</a:t>
            </a:r>
            <a:endParaRPr/>
          </a:p>
          <a:p>
            <a:pPr indent="0" lvl="0" marL="0" rtl="0" algn="l">
              <a:spcBef>
                <a:spcPts val="0"/>
              </a:spcBef>
              <a:spcAft>
                <a:spcPts val="0"/>
              </a:spcAft>
              <a:buNone/>
            </a:pPr>
            <a:r>
              <a:t/>
            </a:r>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else: #handle words not in cmu_dict</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vowels = "aeiouy"</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count = 0 # vowels count</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if word[0] in vowels:</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count += 1</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for index in range(1, len(word)):</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if word[index] in vowels and word[index - 1] not in vowels:</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count += 1</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if word.endswith("e"):</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count -= 1</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if word.endswith("le"):</a:t>
            </a:r>
            <a:endParaRPr sz="9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sz="900">
                <a:solidFill>
                  <a:schemeClr val="dk1"/>
                </a:solidFill>
              </a:rPr>
              <a:t>           count += 1</a:t>
            </a:r>
            <a:endParaRPr sz="900">
              <a:solidFill>
                <a:schemeClr val="dk1"/>
              </a:solidFill>
            </a:endParaRPr>
          </a:p>
          <a:p>
            <a:pPr indent="0" lvl="0" marL="0" rtl="0" algn="l">
              <a:lnSpc>
                <a:spcPct val="150000"/>
              </a:lnSpc>
              <a:spcBef>
                <a:spcPts val="0"/>
              </a:spcBef>
              <a:spcAft>
                <a:spcPts val="0"/>
              </a:spcAft>
              <a:buNone/>
            </a:pPr>
            <a:r>
              <a:rPr lang="en" sz="900">
                <a:solidFill>
                  <a:schemeClr val="dk1"/>
                </a:solidFill>
              </a:rPr>
              <a:t>       return max(1, count) # Ensure at least one syllable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50dfc0177cd62b18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50dfc0177cd62b18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4e6402c7b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4e6402c7b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a71454a1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4a71454a1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doi.org/10.1093/llc/fqae001" TargetMode="External"/><Relationship Id="rId4" Type="http://schemas.openxmlformats.org/officeDocument/2006/relationships/hyperlink" Target="https://rforjournalists.com/2019/11/08/using-natural-language-processing-to-discover-themes-in-first-world-war-poetr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CDS321 Applied Project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Eric Wu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Datasets Used</a:t>
            </a:r>
            <a:endParaRPr/>
          </a:p>
        </p:txBody>
      </p:sp>
      <p:sp>
        <p:nvSpPr>
          <p:cNvPr id="61" name="Google Shape;61;p1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Eighteenth Century Poems Dataset was </a:t>
            </a:r>
            <a:r>
              <a:rPr lang="en"/>
              <a:t>created</a:t>
            </a:r>
            <a:r>
              <a:rPr lang="en"/>
              <a:t> by </a:t>
            </a:r>
            <a:r>
              <a:rPr lang="en"/>
              <a:t>the</a:t>
            </a:r>
            <a:r>
              <a:rPr lang="en"/>
              <a:t> Text Creation Partnership from Gale’s </a:t>
            </a:r>
            <a:r>
              <a:rPr lang="en"/>
              <a:t>Eighteenth</a:t>
            </a:r>
            <a:r>
              <a:rPr lang="en"/>
              <a:t> Century Collection Online. This dataset contains e</a:t>
            </a:r>
            <a:r>
              <a:rPr lang="en"/>
              <a:t>ighteenth like its namesake.</a:t>
            </a:r>
            <a:endParaRPr/>
          </a:p>
          <a:p>
            <a:pPr indent="0" lvl="0" marL="0" rtl="0" algn="l">
              <a:spcBef>
                <a:spcPts val="1200"/>
              </a:spcBef>
              <a:spcAft>
                <a:spcPts val="1200"/>
              </a:spcAft>
              <a:buNone/>
            </a:pPr>
            <a:r>
              <a:rPr lang="en"/>
              <a:t>The dataset has 3,485 poems and the columns: id, text, author, and title.</a:t>
            </a:r>
            <a:endParaRPr/>
          </a:p>
        </p:txBody>
      </p:sp>
      <p:sp>
        <p:nvSpPr>
          <p:cNvPr id="62" name="Google Shape;62;p1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Poetry Foundation Dataset by the Poetry Foundation. This data set contains poems from the late 20th and 21st centuries.  </a:t>
            </a:r>
            <a:endParaRPr/>
          </a:p>
          <a:p>
            <a:pPr indent="0" lvl="0" marL="0" rtl="0" algn="l">
              <a:spcBef>
                <a:spcPts val="1200"/>
              </a:spcBef>
              <a:spcAft>
                <a:spcPts val="0"/>
              </a:spcAft>
              <a:buNone/>
            </a:pPr>
            <a:r>
              <a:rPr lang="en"/>
              <a:t>The dataset has 13854 poems and the columns id, title, poem, and Poet.</a:t>
            </a:r>
            <a:endParaRPr/>
          </a:p>
          <a:p>
            <a:pPr indent="0" lvl="0" marL="0" rtl="0" algn="l">
              <a:spcBef>
                <a:spcPts val="1200"/>
              </a:spcBef>
              <a:spcAft>
                <a:spcPts val="1200"/>
              </a:spcAft>
              <a:buNone/>
            </a:pPr>
            <a:r>
              <a:t/>
            </a:r>
            <a:endParaRPr/>
          </a:p>
        </p:txBody>
      </p:sp>
      <p:pic>
        <p:nvPicPr>
          <p:cNvPr id="63" name="Google Shape;63;p14"/>
          <p:cNvPicPr preferRelativeResize="0"/>
          <p:nvPr/>
        </p:nvPicPr>
        <p:blipFill>
          <a:blip r:embed="rId3">
            <a:alphaModFix/>
          </a:blip>
          <a:stretch>
            <a:fillRect/>
          </a:stretch>
        </p:blipFill>
        <p:spPr>
          <a:xfrm>
            <a:off x="237125" y="3305355"/>
            <a:ext cx="4419599" cy="1366020"/>
          </a:xfrm>
          <a:prstGeom prst="rect">
            <a:avLst/>
          </a:prstGeom>
          <a:noFill/>
          <a:ln>
            <a:noFill/>
          </a:ln>
        </p:spPr>
      </p:pic>
      <p:pic>
        <p:nvPicPr>
          <p:cNvPr id="64" name="Google Shape;64;p14"/>
          <p:cNvPicPr preferRelativeResize="0"/>
          <p:nvPr/>
        </p:nvPicPr>
        <p:blipFill>
          <a:blip r:embed="rId4">
            <a:alphaModFix/>
          </a:blip>
          <a:stretch>
            <a:fillRect/>
          </a:stretch>
        </p:blipFill>
        <p:spPr>
          <a:xfrm>
            <a:off x="5002100" y="3297574"/>
            <a:ext cx="3999901" cy="1759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Goals/Literature Review</a:t>
            </a:r>
            <a:endParaRPr/>
          </a:p>
        </p:txBody>
      </p:sp>
      <p:sp>
        <p:nvSpPr>
          <p:cNvPr id="70" name="Google Shape;70;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goal of this project was to employ NLP techniques to ana</a:t>
            </a:r>
            <a:r>
              <a:rPr lang="en"/>
              <a:t>lyze the changes in English language poems from the 18th century to the 21st.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The secondary goals of this project were: identifying changes in language, changes in grammars, and the changes in length or scope of poetry throughout the selected time frame of my project.</a:t>
            </a:r>
            <a:endParaRPr/>
          </a:p>
          <a:p>
            <a:pPr indent="0" lvl="0" marL="0" rtl="0" algn="l">
              <a:spcBef>
                <a:spcPts val="1200"/>
              </a:spcBef>
              <a:spcAft>
                <a:spcPts val="1200"/>
              </a:spcAft>
              <a:buNone/>
            </a:pPr>
            <a:r>
              <a:t/>
            </a:r>
            <a:endParaRPr/>
          </a:p>
        </p:txBody>
      </p:sp>
      <p:sp>
        <p:nvSpPr>
          <p:cNvPr id="71" name="Google Shape;71;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Literature pertaining to using NLP to analyze poetry:</a:t>
            </a:r>
            <a:endParaRPr/>
          </a:p>
          <a:p>
            <a:pPr indent="0" lvl="0" marL="0" rtl="0" algn="l">
              <a:spcBef>
                <a:spcPts val="1200"/>
              </a:spcBef>
              <a:spcAft>
                <a:spcPts val="0"/>
              </a:spcAft>
              <a:buNone/>
            </a:pPr>
            <a:r>
              <a:rPr lang="en" sz="1200"/>
              <a:t>1.</a:t>
            </a:r>
            <a:r>
              <a:rPr i="1" lang="en" sz="1200">
                <a:highlight>
                  <a:srgbClr val="FFFFFF"/>
                </a:highlight>
              </a:rPr>
              <a:t>Understanding poetry using natural language processing tools: a survey by </a:t>
            </a:r>
            <a:r>
              <a:rPr lang="en" sz="1150">
                <a:highlight>
                  <a:srgbClr val="FFFFFF"/>
                </a:highlight>
              </a:rPr>
              <a:t>Mirella De Sisto, Laura Hernández-Lorenzo, Javier De la Rosa, Salvador Ros, &amp; Elena González-Blanco</a:t>
            </a:r>
            <a:endParaRPr b="1" i="1" sz="1200">
              <a:highlight>
                <a:srgbClr val="FFFFFF"/>
              </a:highlight>
            </a:endParaRPr>
          </a:p>
          <a:p>
            <a:pPr indent="0" lvl="0" marL="0" rtl="0" algn="l">
              <a:spcBef>
                <a:spcPts val="1200"/>
              </a:spcBef>
              <a:spcAft>
                <a:spcPts val="0"/>
              </a:spcAft>
              <a:buNone/>
            </a:pPr>
            <a:r>
              <a:rPr lang="en" sz="1200">
                <a:highlight>
                  <a:srgbClr val="FFFFFF"/>
                </a:highlight>
              </a:rPr>
              <a:t>-This paper is specifically about tools used in </a:t>
            </a:r>
            <a:r>
              <a:rPr lang="en" sz="1200">
                <a:highlight>
                  <a:srgbClr val="FFFFFF"/>
                </a:highlight>
              </a:rPr>
              <a:t>automatic poetry analysis in one time period.</a:t>
            </a:r>
            <a:endParaRPr sz="1200">
              <a:highlight>
                <a:srgbClr val="FFFFFF"/>
              </a:highlight>
            </a:endParaRPr>
          </a:p>
          <a:p>
            <a:pPr indent="0" lvl="0" marL="0" rtl="0" algn="l">
              <a:spcBef>
                <a:spcPts val="1200"/>
              </a:spcBef>
              <a:spcAft>
                <a:spcPts val="0"/>
              </a:spcAft>
              <a:buNone/>
            </a:pPr>
            <a:r>
              <a:rPr lang="en" sz="1200"/>
              <a:t>2. </a:t>
            </a:r>
            <a:r>
              <a:rPr i="1" lang="en" sz="1200">
                <a:highlight>
                  <a:srgbClr val="FFFFFF"/>
                </a:highlight>
              </a:rPr>
              <a:t>Natural Language Processing used in sentiment analysis of poetry: a study of six common techniques by Tanya Nair</a:t>
            </a:r>
            <a:endParaRPr i="1" sz="1200">
              <a:highlight>
                <a:srgbClr val="FFFFFF"/>
              </a:highlight>
            </a:endParaRPr>
          </a:p>
          <a:p>
            <a:pPr indent="0" lvl="0" marL="0" rtl="0" algn="l">
              <a:spcBef>
                <a:spcPts val="1200"/>
              </a:spcBef>
              <a:spcAft>
                <a:spcPts val="0"/>
              </a:spcAft>
              <a:buNone/>
            </a:pPr>
            <a:r>
              <a:rPr lang="en" sz="1200">
                <a:highlight>
                  <a:srgbClr val="FFFFFF"/>
                </a:highlight>
              </a:rPr>
              <a:t>-This paper tested the accuracy of 6 NLP techniques on the Poem Emotion Recognition Corpus</a:t>
            </a:r>
            <a:endParaRPr sz="1200">
              <a:highlight>
                <a:srgbClr val="FFFFFF"/>
              </a:highlight>
            </a:endParaRPr>
          </a:p>
          <a:p>
            <a:pPr indent="0" lvl="0" marL="0" rtl="0" algn="l">
              <a:spcBef>
                <a:spcPts val="1200"/>
              </a:spcBef>
              <a:spcAft>
                <a:spcPts val="0"/>
              </a:spcAft>
              <a:buNone/>
            </a:pPr>
            <a:r>
              <a:rPr lang="en" sz="1200"/>
              <a:t>3.</a:t>
            </a:r>
            <a:r>
              <a:rPr i="1" lang="en" sz="1200"/>
              <a:t>Using Natural Language Processing to discover themes in First World War poetry by Rob</a:t>
            </a:r>
            <a:endParaRPr i="1" sz="1200"/>
          </a:p>
          <a:p>
            <a:pPr indent="0" lvl="0" marL="0" rtl="0" algn="l">
              <a:spcBef>
                <a:spcPts val="1200"/>
              </a:spcBef>
              <a:spcAft>
                <a:spcPts val="1200"/>
              </a:spcAft>
              <a:buNone/>
            </a:pPr>
            <a:r>
              <a:rPr lang="en" sz="1200"/>
              <a:t>-This paper analysed the themes of WW1 Poetry by finding the most common words of each poem.</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Preprocessing + Methodology </a:t>
            </a:r>
            <a:endParaRPr/>
          </a:p>
          <a:p>
            <a:pPr indent="0" lvl="0" marL="0" rtl="0" algn="l">
              <a:spcBef>
                <a:spcPts val="0"/>
              </a:spcBef>
              <a:spcAft>
                <a:spcPts val="0"/>
              </a:spcAft>
              <a:buNone/>
            </a:pPr>
            <a:r>
              <a:t/>
            </a:r>
            <a:endParaRPr/>
          </a:p>
        </p:txBody>
      </p:sp>
      <p:sp>
        <p:nvSpPr>
          <p:cNvPr id="77" name="Google Shape;77;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1. Scrape the EC poems online </a:t>
            </a:r>
            <a:endParaRPr/>
          </a:p>
          <a:p>
            <a:pPr indent="0" lvl="0" marL="0" rtl="0" algn="l">
              <a:spcBef>
                <a:spcPts val="1200"/>
              </a:spcBef>
              <a:spcAft>
                <a:spcPts val="0"/>
              </a:spcAft>
              <a:buNone/>
            </a:pPr>
            <a:r>
              <a:rPr lang="en"/>
              <a:t>2. Read the EC poems to a DF</a:t>
            </a:r>
            <a:endParaRPr/>
          </a:p>
          <a:p>
            <a:pPr indent="0" lvl="0" marL="0" rtl="0" algn="l">
              <a:spcBef>
                <a:spcPts val="1200"/>
              </a:spcBef>
              <a:spcAft>
                <a:spcPts val="0"/>
              </a:spcAft>
              <a:buNone/>
            </a:pPr>
            <a:r>
              <a:rPr lang="en"/>
              <a:t>3. Read in the PF poems to a DF </a:t>
            </a:r>
            <a:endParaRPr/>
          </a:p>
          <a:p>
            <a:pPr indent="0" lvl="0" marL="0" rtl="0" algn="l">
              <a:spcBef>
                <a:spcPts val="1200"/>
              </a:spcBef>
              <a:spcAft>
                <a:spcPts val="0"/>
              </a:spcAft>
              <a:buNone/>
            </a:pPr>
            <a:r>
              <a:rPr lang="en"/>
              <a:t>4. Clean the text </a:t>
            </a:r>
            <a:endParaRPr/>
          </a:p>
          <a:p>
            <a:pPr indent="-304800" lvl="1" marL="914400" rtl="0" algn="l">
              <a:spcBef>
                <a:spcPts val="1200"/>
              </a:spcBef>
              <a:spcAft>
                <a:spcPts val="0"/>
              </a:spcAft>
              <a:buSzPts val="1200"/>
              <a:buAutoNum type="alphaLcPeriod"/>
            </a:pPr>
            <a:r>
              <a:rPr lang="en"/>
              <a:t>Remove non-poem lines</a:t>
            </a:r>
            <a:endParaRPr/>
          </a:p>
          <a:p>
            <a:pPr indent="-304800" lvl="1" marL="914400" rtl="0" algn="l">
              <a:spcBef>
                <a:spcPts val="0"/>
              </a:spcBef>
              <a:spcAft>
                <a:spcPts val="0"/>
              </a:spcAft>
              <a:buSzPts val="1200"/>
              <a:buAutoNum type="alphaLcPeriod"/>
            </a:pPr>
            <a:r>
              <a:rPr lang="en"/>
              <a:t>Remove unnecessary spaces</a:t>
            </a:r>
            <a:endParaRPr/>
          </a:p>
          <a:p>
            <a:pPr indent="-304800" lvl="1" marL="914400" rtl="0" algn="l">
              <a:spcBef>
                <a:spcPts val="0"/>
              </a:spcBef>
              <a:spcAft>
                <a:spcPts val="0"/>
              </a:spcAft>
              <a:buSzPts val="1200"/>
              <a:buAutoNum type="alphaLcPeriod"/>
            </a:pPr>
            <a:r>
              <a:rPr lang="en"/>
              <a:t>Remove non a-z0-9 and \n</a:t>
            </a:r>
            <a:endParaRPr/>
          </a:p>
          <a:p>
            <a:pPr indent="-304800" lvl="1" marL="914400" rtl="0" algn="l">
              <a:spcBef>
                <a:spcPts val="0"/>
              </a:spcBef>
              <a:spcAft>
                <a:spcPts val="0"/>
              </a:spcAft>
              <a:buSzPts val="1200"/>
              <a:buAutoNum type="alphaLcPeriod"/>
            </a:pPr>
            <a:r>
              <a:rPr lang="en"/>
              <a:t>Remove any other odd characters found using set()</a:t>
            </a:r>
            <a:endParaRPr/>
          </a:p>
          <a:p>
            <a:pPr indent="-304800" lvl="1" marL="914400" rtl="0" algn="l">
              <a:spcBef>
                <a:spcPts val="0"/>
              </a:spcBef>
              <a:spcAft>
                <a:spcPts val="0"/>
              </a:spcAft>
              <a:buSzPts val="1200"/>
              <a:buAutoNum type="alphaLcPeriod"/>
            </a:pPr>
            <a:r>
              <a:rPr lang="en"/>
              <a:t>Remove roman numerals from the EC poems</a:t>
            </a:r>
            <a:endParaRPr/>
          </a:p>
          <a:p>
            <a:pPr indent="-304800" lvl="1" marL="914400" rtl="0" algn="l">
              <a:spcBef>
                <a:spcPts val="0"/>
              </a:spcBef>
              <a:spcAft>
                <a:spcPts val="0"/>
              </a:spcAft>
              <a:buSzPts val="1200"/>
              <a:buAutoNum type="alphaLcPeriod"/>
            </a:pPr>
            <a:r>
              <a:rPr lang="en"/>
              <a:t>Lowercase all the text</a:t>
            </a:r>
            <a:endParaRPr/>
          </a:p>
          <a:p>
            <a:pPr indent="-304800" lvl="1" marL="914400" rtl="0" algn="l">
              <a:spcBef>
                <a:spcPts val="0"/>
              </a:spcBef>
              <a:spcAft>
                <a:spcPts val="0"/>
              </a:spcAft>
              <a:buSzPts val="1200"/>
              <a:buAutoNum type="alphaLcPeriod"/>
            </a:pPr>
            <a:r>
              <a:rPr lang="en"/>
              <a:t>Split poem lines in to lists of lines</a:t>
            </a:r>
            <a:endParaRPr/>
          </a:p>
        </p:txBody>
      </p:sp>
      <p:sp>
        <p:nvSpPr>
          <p:cNvPr id="78" name="Google Shape;78;p1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5. EDA: Identify most common words from each dataset</a:t>
            </a:r>
            <a:endParaRPr/>
          </a:p>
          <a:p>
            <a:pPr indent="0" lvl="0" marL="0" rtl="0" algn="l">
              <a:spcBef>
                <a:spcPts val="1200"/>
              </a:spcBef>
              <a:spcAft>
                <a:spcPts val="0"/>
              </a:spcAft>
              <a:buNone/>
            </a:pPr>
            <a:r>
              <a:rPr lang="en"/>
              <a:t>6. POS tag DFs and compare tags (using NLTK.pos_tag)</a:t>
            </a:r>
            <a:endParaRPr/>
          </a:p>
          <a:p>
            <a:pPr indent="0" lvl="0" marL="0" rtl="0" algn="l">
              <a:spcBef>
                <a:spcPts val="1200"/>
              </a:spcBef>
              <a:spcAft>
                <a:spcPts val="0"/>
              </a:spcAft>
              <a:buNone/>
            </a:pPr>
            <a:r>
              <a:rPr lang="en"/>
              <a:t>7. Identify various statistics about the poems in the DFs</a:t>
            </a:r>
            <a:endParaRPr/>
          </a:p>
          <a:p>
            <a:pPr indent="0" lvl="0" marL="0" rtl="0" algn="l">
              <a:spcBef>
                <a:spcPts val="1200"/>
              </a:spcBef>
              <a:spcAft>
                <a:spcPts val="0"/>
              </a:spcAft>
              <a:buNone/>
            </a:pPr>
            <a:r>
              <a:rPr lang="en"/>
              <a:t>8. Implement sentiment analysis (used the VADER corpus)</a:t>
            </a:r>
            <a:endParaRPr/>
          </a:p>
          <a:p>
            <a:pPr indent="0" lvl="0" marL="0" rtl="0" algn="l">
              <a:spcBef>
                <a:spcPts val="1200"/>
              </a:spcBef>
              <a:spcAft>
                <a:spcPts val="0"/>
              </a:spcAft>
              <a:buNone/>
            </a:pPr>
            <a:r>
              <a:rPr lang="en"/>
              <a:t>9. Metrical Analysis</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EDA Findings</a:t>
            </a:r>
            <a:endParaRPr/>
          </a:p>
          <a:p>
            <a:pPr indent="0" lvl="0" marL="0" rtl="0" algn="l">
              <a:spcBef>
                <a:spcPts val="0"/>
              </a:spcBef>
              <a:spcAft>
                <a:spcPts val="0"/>
              </a:spcAft>
              <a:buNone/>
            </a:pPr>
            <a:r>
              <a:t/>
            </a:r>
            <a:endParaRPr/>
          </a:p>
        </p:txBody>
      </p:sp>
      <p:sp>
        <p:nvSpPr>
          <p:cNvPr id="84" name="Google Shape;84;p17"/>
          <p:cNvSpPr txBox="1"/>
          <p:nvPr>
            <p:ph idx="1" type="body"/>
          </p:nvPr>
        </p:nvSpPr>
        <p:spPr>
          <a:xfrm>
            <a:off x="345600" y="2828250"/>
            <a:ext cx="3993000" cy="282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The ECPA dataset typically had:</a:t>
            </a:r>
            <a:endParaRPr sz="1400"/>
          </a:p>
          <a:p>
            <a:pPr indent="0" lvl="0" marL="0" rtl="0" algn="l">
              <a:spcBef>
                <a:spcPts val="1200"/>
              </a:spcBef>
              <a:spcAft>
                <a:spcPts val="0"/>
              </a:spcAft>
              <a:buNone/>
            </a:pPr>
            <a:r>
              <a:rPr lang="en" sz="1400"/>
              <a:t>-Longer poems &amp; shorter tokens</a:t>
            </a:r>
            <a:endParaRPr sz="1400"/>
          </a:p>
          <a:p>
            <a:pPr indent="0" lvl="0" marL="0" rtl="0" algn="l">
              <a:spcBef>
                <a:spcPts val="1200"/>
              </a:spcBef>
              <a:spcAft>
                <a:spcPts val="0"/>
              </a:spcAft>
              <a:buNone/>
            </a:pPr>
            <a:r>
              <a:rPr lang="en" sz="1400"/>
              <a:t>The PF dataset typically had:</a:t>
            </a:r>
            <a:endParaRPr sz="1400"/>
          </a:p>
          <a:p>
            <a:pPr indent="0" lvl="0" marL="0" rtl="0" algn="l">
              <a:spcBef>
                <a:spcPts val="1200"/>
              </a:spcBef>
              <a:spcAft>
                <a:spcPts val="1200"/>
              </a:spcAft>
              <a:buNone/>
            </a:pPr>
            <a:r>
              <a:rPr lang="en" sz="1400"/>
              <a:t>-Significantly shorter poems &amp; longer tokens</a:t>
            </a:r>
            <a:endParaRPr sz="1400"/>
          </a:p>
        </p:txBody>
      </p:sp>
      <p:sp>
        <p:nvSpPr>
          <p:cNvPr id="85" name="Google Shape;85;p17"/>
          <p:cNvSpPr/>
          <p:nvPr/>
        </p:nvSpPr>
        <p:spPr>
          <a:xfrm>
            <a:off x="395500" y="2506050"/>
            <a:ext cx="3629400" cy="322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rPr>
              <a:t>This table </a:t>
            </a:r>
            <a:r>
              <a:rPr lang="en" sz="700">
                <a:solidFill>
                  <a:schemeClr val="dk2"/>
                </a:solidFill>
              </a:rPr>
              <a:t>represents</a:t>
            </a:r>
            <a:r>
              <a:rPr lang="en" sz="700">
                <a:solidFill>
                  <a:schemeClr val="dk2"/>
                </a:solidFill>
              </a:rPr>
              <a:t> an analysis of the mean, median, and average length of the number of tokens contained in the </a:t>
            </a:r>
            <a:r>
              <a:rPr lang="en" sz="700">
                <a:solidFill>
                  <a:schemeClr val="dk2"/>
                </a:solidFill>
              </a:rPr>
              <a:t>corresponding</a:t>
            </a:r>
            <a:r>
              <a:rPr lang="en" sz="700">
                <a:solidFill>
                  <a:schemeClr val="dk2"/>
                </a:solidFill>
              </a:rPr>
              <a:t> </a:t>
            </a:r>
            <a:r>
              <a:rPr lang="en" sz="700">
                <a:solidFill>
                  <a:schemeClr val="dk2"/>
                </a:solidFill>
              </a:rPr>
              <a:t>dataset after data cleaning</a:t>
            </a:r>
            <a:endParaRPr sz="700">
              <a:solidFill>
                <a:schemeClr val="dk2"/>
              </a:solidFill>
            </a:endParaRPr>
          </a:p>
        </p:txBody>
      </p:sp>
      <p:sp>
        <p:nvSpPr>
          <p:cNvPr id="86" name="Google Shape;86;p17"/>
          <p:cNvSpPr txBox="1"/>
          <p:nvPr>
            <p:ph idx="1" type="body"/>
          </p:nvPr>
        </p:nvSpPr>
        <p:spPr>
          <a:xfrm>
            <a:off x="4839300" y="2980650"/>
            <a:ext cx="3993000" cy="282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From the histogram </a:t>
            </a:r>
            <a:r>
              <a:rPr lang="en" sz="1400"/>
              <a:t>representing</a:t>
            </a:r>
            <a:r>
              <a:rPr lang="en" sz="1400"/>
              <a:t> the distribution of the number of tokens per poem for each dataset, we can see,</a:t>
            </a:r>
            <a:endParaRPr sz="1400"/>
          </a:p>
          <a:p>
            <a:pPr indent="0" lvl="0" marL="0" rtl="0" algn="l">
              <a:spcBef>
                <a:spcPts val="1200"/>
              </a:spcBef>
              <a:spcAft>
                <a:spcPts val="1200"/>
              </a:spcAft>
              <a:buNone/>
            </a:pPr>
            <a:r>
              <a:rPr lang="en" sz="1400"/>
              <a:t>The vast majority of the poems in ECPA fall between 0 and 750 tokens, while the PF poems were significantly shorter, with most having less than 250 tokens a poem </a:t>
            </a:r>
            <a:endParaRPr sz="1400"/>
          </a:p>
        </p:txBody>
      </p:sp>
      <p:pic>
        <p:nvPicPr>
          <p:cNvPr id="87" name="Google Shape;87;p17"/>
          <p:cNvPicPr preferRelativeResize="0"/>
          <p:nvPr/>
        </p:nvPicPr>
        <p:blipFill>
          <a:blip r:embed="rId3">
            <a:alphaModFix/>
          </a:blip>
          <a:stretch>
            <a:fillRect/>
          </a:stretch>
        </p:blipFill>
        <p:spPr>
          <a:xfrm>
            <a:off x="4253925" y="596150"/>
            <a:ext cx="4805400" cy="2384509"/>
          </a:xfrm>
          <a:prstGeom prst="rect">
            <a:avLst/>
          </a:prstGeom>
          <a:noFill/>
          <a:ln>
            <a:noFill/>
          </a:ln>
        </p:spPr>
      </p:pic>
      <p:pic>
        <p:nvPicPr>
          <p:cNvPr id="88" name="Google Shape;88;p17"/>
          <p:cNvPicPr preferRelativeResize="0"/>
          <p:nvPr/>
        </p:nvPicPr>
        <p:blipFill>
          <a:blip r:embed="rId4">
            <a:alphaModFix/>
          </a:blip>
          <a:stretch>
            <a:fillRect/>
          </a:stretch>
        </p:blipFill>
        <p:spPr>
          <a:xfrm>
            <a:off x="50650" y="978275"/>
            <a:ext cx="4203276" cy="14379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 Findings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4" name="Google Shape;94;p18"/>
          <p:cNvSpPr txBox="1"/>
          <p:nvPr>
            <p:ph idx="1" type="body"/>
          </p:nvPr>
        </p:nvSpPr>
        <p:spPr>
          <a:xfrm>
            <a:off x="311700" y="3179275"/>
            <a:ext cx="3999900" cy="13896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This bar chart </a:t>
            </a:r>
            <a:r>
              <a:rPr lang="en"/>
              <a:t>represents</a:t>
            </a:r>
            <a:r>
              <a:rPr lang="en"/>
              <a:t> the distribution of POS in the ECPA dataset ordered by </a:t>
            </a:r>
            <a:r>
              <a:rPr lang="en"/>
              <a:t>occurrence for the top 15 POS</a:t>
            </a:r>
            <a:r>
              <a:rPr lang="en"/>
              <a:t>.</a:t>
            </a:r>
            <a:endParaRPr/>
          </a:p>
          <a:p>
            <a:pPr indent="0" lvl="0" marL="0" rtl="0" algn="l">
              <a:spcBef>
                <a:spcPts val="1200"/>
              </a:spcBef>
              <a:spcAft>
                <a:spcPts val="0"/>
              </a:spcAft>
              <a:buNone/>
            </a:pPr>
            <a:r>
              <a:rPr lang="en"/>
              <a:t>While the percentage of most parts of speech has remained relatively constant, jj was used more for the EC poems. </a:t>
            </a:r>
            <a:endParaRPr/>
          </a:p>
          <a:p>
            <a:pPr indent="0" lvl="0" marL="0" rtl="0" algn="l">
              <a:spcBef>
                <a:spcPts val="1200"/>
              </a:spcBef>
              <a:spcAft>
                <a:spcPts val="1200"/>
              </a:spcAft>
              <a:buNone/>
            </a:pPr>
            <a:r>
              <a:rPr lang="en"/>
              <a:t>The use of nouns in EC poems was slightly higher than modern poems. This may be due to people in the EC writing about a particular subject, rather than a </a:t>
            </a:r>
            <a:r>
              <a:rPr lang="en"/>
              <a:t>feeling</a:t>
            </a:r>
            <a:r>
              <a:rPr lang="en"/>
              <a:t> or something figuratively. </a:t>
            </a:r>
            <a:endParaRPr/>
          </a:p>
        </p:txBody>
      </p:sp>
      <p:sp>
        <p:nvSpPr>
          <p:cNvPr id="95" name="Google Shape;95;p18"/>
          <p:cNvSpPr txBox="1"/>
          <p:nvPr>
            <p:ph idx="2" type="body"/>
          </p:nvPr>
        </p:nvSpPr>
        <p:spPr>
          <a:xfrm>
            <a:off x="4832400" y="3179225"/>
            <a:ext cx="3999900" cy="1389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This bar chart represents the distribution of POS in the ECPA dataset ordered by occurrence for the top 15 POS.</a:t>
            </a:r>
            <a:endParaRPr/>
          </a:p>
          <a:p>
            <a:pPr indent="0" lvl="0" marL="0" rtl="0" algn="l">
              <a:spcBef>
                <a:spcPts val="1200"/>
              </a:spcBef>
              <a:spcAft>
                <a:spcPts val="1200"/>
              </a:spcAft>
              <a:buClr>
                <a:schemeClr val="dk1"/>
              </a:buClr>
              <a:buSzPct val="78571"/>
              <a:buFont typeface="Arial"/>
              <a:buNone/>
            </a:pPr>
            <a:r>
              <a:rPr lang="en"/>
              <a:t>This chart shares similarities with the EC poem chart. The top 5 POS tags are shared amongst the graphs, however, the proportions of the POS after the top 5 change significantly afterwards. This may be due to more poems in the PF dataset containing more creative uses of grammar</a:t>
            </a:r>
            <a:endParaRPr/>
          </a:p>
        </p:txBody>
      </p:sp>
      <p:pic>
        <p:nvPicPr>
          <p:cNvPr id="96" name="Google Shape;96;p18"/>
          <p:cNvPicPr preferRelativeResize="0"/>
          <p:nvPr/>
        </p:nvPicPr>
        <p:blipFill>
          <a:blip r:embed="rId3">
            <a:alphaModFix/>
          </a:blip>
          <a:stretch>
            <a:fillRect/>
          </a:stretch>
        </p:blipFill>
        <p:spPr>
          <a:xfrm>
            <a:off x="152400" y="949750"/>
            <a:ext cx="4159200" cy="2311756"/>
          </a:xfrm>
          <a:prstGeom prst="rect">
            <a:avLst/>
          </a:prstGeom>
          <a:noFill/>
          <a:ln>
            <a:noFill/>
          </a:ln>
        </p:spPr>
      </p:pic>
      <p:pic>
        <p:nvPicPr>
          <p:cNvPr id="97" name="Google Shape;97;p18"/>
          <p:cNvPicPr preferRelativeResize="0"/>
          <p:nvPr/>
        </p:nvPicPr>
        <p:blipFill>
          <a:blip r:embed="rId4">
            <a:alphaModFix/>
          </a:blip>
          <a:stretch>
            <a:fillRect/>
          </a:stretch>
        </p:blipFill>
        <p:spPr>
          <a:xfrm>
            <a:off x="4572000" y="994025"/>
            <a:ext cx="4079557" cy="2267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 Findings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3" name="Google Shape;103;p19"/>
          <p:cNvSpPr txBox="1"/>
          <p:nvPr>
            <p:ph idx="1" type="body"/>
          </p:nvPr>
        </p:nvSpPr>
        <p:spPr>
          <a:xfrm>
            <a:off x="311700" y="4202925"/>
            <a:ext cx="5840100" cy="57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t>This chart </a:t>
            </a:r>
            <a:r>
              <a:rPr lang="en"/>
              <a:t>represents</a:t>
            </a:r>
            <a:r>
              <a:rPr lang="en"/>
              <a:t> the distributions of just the adjectives, </a:t>
            </a:r>
            <a:r>
              <a:rPr lang="en"/>
              <a:t>nouns, and verbs parts of speech, so the percentage will not add to 100% for the distributions.</a:t>
            </a:r>
            <a:endParaRPr/>
          </a:p>
        </p:txBody>
      </p:sp>
      <p:sp>
        <p:nvSpPr>
          <p:cNvPr id="104" name="Google Shape;104;p19"/>
          <p:cNvSpPr txBox="1"/>
          <p:nvPr>
            <p:ph idx="2" type="body"/>
          </p:nvPr>
        </p:nvSpPr>
        <p:spPr>
          <a:xfrm>
            <a:off x="6386025" y="1152525"/>
            <a:ext cx="24462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**This chart’s categories where created by selecting all tags that were adjectives, nouns, and verbs, rather than their singular forms as identified on the previous slide.</a:t>
            </a:r>
            <a:endParaRPr/>
          </a:p>
          <a:p>
            <a:pPr indent="0" lvl="0" marL="0" rtl="0" algn="l">
              <a:spcBef>
                <a:spcPts val="1200"/>
              </a:spcBef>
              <a:spcAft>
                <a:spcPts val="0"/>
              </a:spcAft>
              <a:buNone/>
            </a:pPr>
            <a:r>
              <a:rPr lang="en"/>
              <a:t>As </a:t>
            </a:r>
            <a:r>
              <a:rPr lang="en"/>
              <a:t>highlighted</a:t>
            </a:r>
            <a:r>
              <a:rPr lang="en"/>
              <a:t> in the earlier slide analyzing the top 15 POS by proportion, The EC poems tended to use more nouns and adjectives. </a:t>
            </a:r>
            <a:endParaRPr/>
          </a:p>
          <a:p>
            <a:pPr indent="0" lvl="0" marL="0" rtl="0" algn="l">
              <a:spcBef>
                <a:spcPts val="1200"/>
              </a:spcBef>
              <a:spcAft>
                <a:spcPts val="0"/>
              </a:spcAft>
              <a:buNone/>
            </a:pPr>
            <a:r>
              <a:rPr lang="en"/>
              <a:t>An interesting finding here that was not visible in the previous set of bar charts is that modern poems use slightly more verbs. </a:t>
            </a:r>
            <a:endParaRPr/>
          </a:p>
          <a:p>
            <a:pPr indent="0" lvl="0" marL="0" rtl="0" algn="l">
              <a:spcBef>
                <a:spcPts val="1200"/>
              </a:spcBef>
              <a:spcAft>
                <a:spcPts val="1200"/>
              </a:spcAft>
              <a:buNone/>
            </a:pPr>
            <a:r>
              <a:t/>
            </a:r>
            <a:endParaRPr/>
          </a:p>
        </p:txBody>
      </p:sp>
      <p:pic>
        <p:nvPicPr>
          <p:cNvPr id="105" name="Google Shape;105;p19"/>
          <p:cNvPicPr preferRelativeResize="0"/>
          <p:nvPr/>
        </p:nvPicPr>
        <p:blipFill>
          <a:blip r:embed="rId3">
            <a:alphaModFix/>
          </a:blip>
          <a:stretch>
            <a:fillRect/>
          </a:stretch>
        </p:blipFill>
        <p:spPr>
          <a:xfrm>
            <a:off x="49025" y="940187"/>
            <a:ext cx="6337001" cy="3144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 Findings: Bi-Grams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1" name="Google Shape;111;p20"/>
          <p:cNvSpPr txBox="1"/>
          <p:nvPr>
            <p:ph idx="1" type="body"/>
          </p:nvPr>
        </p:nvSpPr>
        <p:spPr>
          <a:xfrm>
            <a:off x="389775" y="3996175"/>
            <a:ext cx="5874300" cy="57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t>This barchart </a:t>
            </a:r>
            <a:r>
              <a:rPr lang="en"/>
              <a:t>represents</a:t>
            </a:r>
            <a:r>
              <a:rPr lang="en"/>
              <a:t> the top 10 most common POS bi-grams by proportion</a:t>
            </a:r>
            <a:endParaRPr/>
          </a:p>
        </p:txBody>
      </p:sp>
      <p:sp>
        <p:nvSpPr>
          <p:cNvPr id="112" name="Google Shape;112;p20"/>
          <p:cNvSpPr txBox="1"/>
          <p:nvPr>
            <p:ph idx="2" type="body"/>
          </p:nvPr>
        </p:nvSpPr>
        <p:spPr>
          <a:xfrm>
            <a:off x="6363700" y="1152475"/>
            <a:ext cx="24687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200"/>
              <a:t>The ECPA dataset poems tended to use more (NN,NN) bigrams at 10.78% compared to the PF poems at 8.5% </a:t>
            </a:r>
            <a:endParaRPr sz="1200"/>
          </a:p>
          <a:p>
            <a:pPr indent="0" lvl="0" marL="0" rtl="0" algn="l">
              <a:spcBef>
                <a:spcPts val="1200"/>
              </a:spcBef>
              <a:spcAft>
                <a:spcPts val="0"/>
              </a:spcAft>
              <a:buNone/>
            </a:pPr>
            <a:r>
              <a:rPr lang="en" sz="1200"/>
              <a:t>The interesting thing to note is the difference in distributions of the </a:t>
            </a:r>
            <a:r>
              <a:rPr lang="en" sz="1200"/>
              <a:t>types</a:t>
            </a:r>
            <a:r>
              <a:rPr lang="en" sz="1200"/>
              <a:t> of bi-grams per poem and the order that changes when looking at EC poems and modern poems</a:t>
            </a:r>
            <a:endParaRPr sz="1200"/>
          </a:p>
          <a:p>
            <a:pPr indent="0" lvl="0" marL="0" rtl="0" algn="l">
              <a:spcBef>
                <a:spcPts val="1200"/>
              </a:spcBef>
              <a:spcAft>
                <a:spcPts val="1200"/>
              </a:spcAft>
              <a:buNone/>
            </a:pPr>
            <a:r>
              <a:rPr lang="en" sz="1200"/>
              <a:t>An additional thing to note is the </a:t>
            </a:r>
            <a:r>
              <a:rPr lang="en" sz="1200"/>
              <a:t>change in how (DT,NN) had become more common in the modern poems. (NN,CC) also used to be more common in EC poems.</a:t>
            </a:r>
            <a:endParaRPr sz="1200"/>
          </a:p>
        </p:txBody>
      </p:sp>
      <p:pic>
        <p:nvPicPr>
          <p:cNvPr id="113" name="Google Shape;113;p20"/>
          <p:cNvPicPr preferRelativeResize="0"/>
          <p:nvPr/>
        </p:nvPicPr>
        <p:blipFill>
          <a:blip r:embed="rId3">
            <a:alphaModFix/>
          </a:blip>
          <a:stretch>
            <a:fillRect/>
          </a:stretch>
        </p:blipFill>
        <p:spPr>
          <a:xfrm>
            <a:off x="311700" y="1017725"/>
            <a:ext cx="5952449" cy="29536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Sentiment Findings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9" name="Google Shape;119;p21"/>
          <p:cNvSpPr txBox="1"/>
          <p:nvPr>
            <p:ph idx="1" type="body"/>
          </p:nvPr>
        </p:nvSpPr>
        <p:spPr>
          <a:xfrm>
            <a:off x="311700" y="3762300"/>
            <a:ext cx="5255400" cy="806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This bar chart represents the sentiment categories by percentage found using the NLTK vader_lexicon for each dataset </a:t>
            </a:r>
            <a:endParaRPr/>
          </a:p>
        </p:txBody>
      </p:sp>
      <p:sp>
        <p:nvSpPr>
          <p:cNvPr id="120" name="Google Shape;120;p21"/>
          <p:cNvSpPr txBox="1"/>
          <p:nvPr>
            <p:ph idx="2" type="body"/>
          </p:nvPr>
        </p:nvSpPr>
        <p:spPr>
          <a:xfrm>
            <a:off x="5702750" y="1152475"/>
            <a:ext cx="3129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EC poems had significantly a very different distribution of poems based on sentiment category compared to PF. </a:t>
            </a:r>
            <a:endParaRPr/>
          </a:p>
          <a:p>
            <a:pPr indent="0" lvl="0" marL="0" rtl="0" algn="l">
              <a:spcBef>
                <a:spcPts val="1200"/>
              </a:spcBef>
              <a:spcAft>
                <a:spcPts val="0"/>
              </a:spcAft>
              <a:buNone/>
            </a:pPr>
            <a:r>
              <a:rPr lang="en"/>
              <a:t>Because of the use of a per word approach when using the vader_lexicon to identify sentiment, the word </a:t>
            </a:r>
            <a:r>
              <a:rPr lang="en"/>
              <a:t>embeddings</a:t>
            </a:r>
            <a:r>
              <a:rPr lang="en"/>
              <a:t> and nuances of semantics are not captured. There is a chance the categories are not completely </a:t>
            </a:r>
            <a:r>
              <a:rPr lang="en"/>
              <a:t>representative</a:t>
            </a:r>
            <a:r>
              <a:rPr lang="en"/>
              <a:t>. </a:t>
            </a:r>
            <a:endParaRPr/>
          </a:p>
          <a:p>
            <a:pPr indent="0" lvl="0" marL="0" rtl="0" algn="l">
              <a:spcBef>
                <a:spcPts val="1200"/>
              </a:spcBef>
              <a:spcAft>
                <a:spcPts val="1200"/>
              </a:spcAft>
              <a:buNone/>
            </a:pPr>
            <a:r>
              <a:rPr lang="en"/>
              <a:t>The </a:t>
            </a:r>
            <a:r>
              <a:rPr lang="en"/>
              <a:t>threshold</a:t>
            </a:r>
            <a:r>
              <a:rPr lang="en"/>
              <a:t> used to identify positive, neutral, or negative sentiment was 0.05. </a:t>
            </a:r>
            <a:endParaRPr/>
          </a:p>
        </p:txBody>
      </p:sp>
      <p:pic>
        <p:nvPicPr>
          <p:cNvPr id="121" name="Google Shape;121;p21"/>
          <p:cNvPicPr preferRelativeResize="0"/>
          <p:nvPr/>
        </p:nvPicPr>
        <p:blipFill>
          <a:blip r:embed="rId3">
            <a:alphaModFix/>
          </a:blip>
          <a:stretch>
            <a:fillRect/>
          </a:stretch>
        </p:blipFill>
        <p:spPr>
          <a:xfrm>
            <a:off x="152400" y="1170125"/>
            <a:ext cx="4916765" cy="24397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Sentiment Findings and POS Distributions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7" name="Google Shape;127;p22"/>
          <p:cNvSpPr txBox="1"/>
          <p:nvPr>
            <p:ph idx="1" type="body"/>
          </p:nvPr>
        </p:nvSpPr>
        <p:spPr>
          <a:xfrm>
            <a:off x="311700" y="3609775"/>
            <a:ext cx="3999900" cy="1389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This bar chart represents the POS distributions of Adjectives, Nouns, and Verbs by their respective sentiment category for the ECPA dataset.</a:t>
            </a:r>
            <a:endParaRPr/>
          </a:p>
          <a:p>
            <a:pPr indent="0" lvl="0" marL="0" rtl="0" algn="l">
              <a:spcBef>
                <a:spcPts val="1200"/>
              </a:spcBef>
              <a:spcAft>
                <a:spcPts val="1200"/>
              </a:spcAft>
              <a:buNone/>
            </a:pPr>
            <a:r>
              <a:rPr lang="en"/>
              <a:t>The trends found for the overall distribution for adj/Nn/Vbs in the POS findings slide remains true even when plotting by sentiment category. It seems the writing style and grammar used in the EC is universal when writing negative, neutral, or positive poems. </a:t>
            </a:r>
            <a:endParaRPr/>
          </a:p>
        </p:txBody>
      </p:sp>
      <p:sp>
        <p:nvSpPr>
          <p:cNvPr id="128" name="Google Shape;128;p22"/>
          <p:cNvSpPr txBox="1"/>
          <p:nvPr>
            <p:ph idx="2" type="body"/>
          </p:nvPr>
        </p:nvSpPr>
        <p:spPr>
          <a:xfrm>
            <a:off x="4832400" y="3609775"/>
            <a:ext cx="3999900" cy="13896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None/>
            </a:pPr>
            <a:r>
              <a:rPr lang="en"/>
              <a:t>This bar chart represents the POS distributions of Adjectives, Nouns, and Verbs by their respective sentiment category for the PF dataset.</a:t>
            </a:r>
            <a:endParaRPr/>
          </a:p>
          <a:p>
            <a:pPr indent="0" lvl="0" marL="0" rtl="0" algn="l">
              <a:spcBef>
                <a:spcPts val="1200"/>
              </a:spcBef>
              <a:spcAft>
                <a:spcPts val="1200"/>
              </a:spcAft>
              <a:buClr>
                <a:schemeClr val="dk1"/>
              </a:buClr>
              <a:buSzPct val="78571"/>
              <a:buFont typeface="Arial"/>
              <a:buNone/>
            </a:pPr>
            <a:r>
              <a:rPr lang="en"/>
              <a:t>The same trend found in the comparison of the PCT of POS tags by sentiment category for the ECPA dataset applies to the PF dataset. It seems the sentiment of the poem does not change the fundamental way we write, even with respect to time. As the PF distribution with respect to sentiment is consistent with the previous distribution without. </a:t>
            </a:r>
            <a:endParaRPr/>
          </a:p>
        </p:txBody>
      </p:sp>
      <p:pic>
        <p:nvPicPr>
          <p:cNvPr id="129" name="Google Shape;129;p22"/>
          <p:cNvPicPr preferRelativeResize="0"/>
          <p:nvPr/>
        </p:nvPicPr>
        <p:blipFill>
          <a:blip r:embed="rId3">
            <a:alphaModFix/>
          </a:blip>
          <a:stretch>
            <a:fillRect/>
          </a:stretch>
        </p:blipFill>
        <p:spPr>
          <a:xfrm>
            <a:off x="520450" y="940550"/>
            <a:ext cx="3582400" cy="2499351"/>
          </a:xfrm>
          <a:prstGeom prst="rect">
            <a:avLst/>
          </a:prstGeom>
          <a:noFill/>
          <a:ln>
            <a:noFill/>
          </a:ln>
        </p:spPr>
      </p:pic>
      <p:pic>
        <p:nvPicPr>
          <p:cNvPr id="130" name="Google Shape;130;p22"/>
          <p:cNvPicPr preferRelativeResize="0"/>
          <p:nvPr/>
        </p:nvPicPr>
        <p:blipFill>
          <a:blip r:embed="rId4">
            <a:alphaModFix/>
          </a:blip>
          <a:stretch>
            <a:fillRect/>
          </a:stretch>
        </p:blipFill>
        <p:spPr>
          <a:xfrm>
            <a:off x="5041150" y="1017726"/>
            <a:ext cx="3582400" cy="24993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Metrical Analysis (Syllable Counts)</a:t>
            </a:r>
            <a:endParaRPr/>
          </a:p>
        </p:txBody>
      </p:sp>
      <p:sp>
        <p:nvSpPr>
          <p:cNvPr id="136" name="Google Shape;136;p23"/>
          <p:cNvSpPr txBox="1"/>
          <p:nvPr>
            <p:ph idx="1" type="body"/>
          </p:nvPr>
        </p:nvSpPr>
        <p:spPr>
          <a:xfrm>
            <a:off x="311700" y="4143600"/>
            <a:ext cx="5552100" cy="491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1200"/>
              </a:spcAft>
              <a:buNone/>
            </a:pPr>
            <a:r>
              <a:rPr lang="en"/>
              <a:t>This chart </a:t>
            </a:r>
            <a:r>
              <a:rPr lang="en"/>
              <a:t>represents</a:t>
            </a:r>
            <a:r>
              <a:rPr lang="en"/>
              <a:t> the percentage per </a:t>
            </a:r>
            <a:r>
              <a:rPr lang="en"/>
              <a:t>syllable</a:t>
            </a:r>
            <a:r>
              <a:rPr lang="en"/>
              <a:t> count, extracted from the </a:t>
            </a:r>
            <a:r>
              <a:rPr lang="en"/>
              <a:t>original</a:t>
            </a:r>
            <a:r>
              <a:rPr lang="en"/>
              <a:t> poem text, counting the syllables per line by dataset</a:t>
            </a:r>
            <a:endParaRPr/>
          </a:p>
        </p:txBody>
      </p:sp>
      <p:sp>
        <p:nvSpPr>
          <p:cNvPr id="137" name="Google Shape;137;p23"/>
          <p:cNvSpPr txBox="1"/>
          <p:nvPr>
            <p:ph idx="2" type="body"/>
          </p:nvPr>
        </p:nvSpPr>
        <p:spPr>
          <a:xfrm>
            <a:off x="6177300" y="1152475"/>
            <a:ext cx="2655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EC poems tended to have a larger proportion of lines that had a syllable count of 10, whereas the </a:t>
            </a:r>
            <a:r>
              <a:rPr lang="en"/>
              <a:t>modern</a:t>
            </a:r>
            <a:r>
              <a:rPr lang="en"/>
              <a:t> poems had a more </a:t>
            </a:r>
            <a:r>
              <a:rPr lang="en"/>
              <a:t>gaussian</a:t>
            </a:r>
            <a:r>
              <a:rPr lang="en"/>
              <a:t> distribution. </a:t>
            </a:r>
            <a:endParaRPr/>
          </a:p>
          <a:p>
            <a:pPr indent="0" lvl="0" marL="0" rtl="0" algn="l">
              <a:spcBef>
                <a:spcPts val="1200"/>
              </a:spcBef>
              <a:spcAft>
                <a:spcPts val="1200"/>
              </a:spcAft>
              <a:buNone/>
            </a:pPr>
            <a:r>
              <a:rPr lang="en"/>
              <a:t>The EC poems also had </a:t>
            </a:r>
            <a:r>
              <a:rPr lang="en"/>
              <a:t>another</a:t>
            </a:r>
            <a:r>
              <a:rPr lang="en"/>
              <a:t> center near 20 syllables per line, whereas the modern </a:t>
            </a:r>
            <a:r>
              <a:rPr lang="en"/>
              <a:t>poems exhibited a logarithmic style drop off after a syllable count of 10. </a:t>
            </a:r>
            <a:endParaRPr/>
          </a:p>
        </p:txBody>
      </p:sp>
      <p:pic>
        <p:nvPicPr>
          <p:cNvPr id="138" name="Google Shape;138;p23"/>
          <p:cNvPicPr preferRelativeResize="0"/>
          <p:nvPr/>
        </p:nvPicPr>
        <p:blipFill>
          <a:blip r:embed="rId3">
            <a:alphaModFix/>
          </a:blip>
          <a:stretch>
            <a:fillRect/>
          </a:stretch>
        </p:blipFill>
        <p:spPr>
          <a:xfrm>
            <a:off x="152525" y="977877"/>
            <a:ext cx="6024776" cy="29895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a:p>
            <a:pPr indent="0" lvl="0" marL="0" rtl="0" algn="l">
              <a:spcBef>
                <a:spcPts val="0"/>
              </a:spcBef>
              <a:spcAft>
                <a:spcPts val="0"/>
              </a:spcAft>
              <a:buNone/>
            </a:pPr>
            <a:r>
              <a:t/>
            </a:r>
            <a:endParaRPr/>
          </a:p>
        </p:txBody>
      </p:sp>
      <p:sp>
        <p:nvSpPr>
          <p:cNvPr id="144" name="Google Shape;14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Overall it seems the changes in the POS and sentiment of poems is likely due to the changes in poem subject matter, changes in grammar from the eighteenth century to modern times, and the change in they way ordinary people are literate compared to the eighteenth century where only people who were highly educated were literate. There is also a trend towards shorter poems, with fewer lines, that </a:t>
            </a:r>
            <a:r>
              <a:rPr lang="en"/>
              <a:t>contain more variety to the POS used, assuming the tagger was mostly accurate. </a:t>
            </a:r>
            <a:endParaRPr/>
          </a:p>
          <a:p>
            <a:pPr indent="0" lvl="0" marL="0" rtl="0" algn="l">
              <a:spcBef>
                <a:spcPts val="1200"/>
              </a:spcBef>
              <a:spcAft>
                <a:spcPts val="1200"/>
              </a:spcAft>
              <a:buNone/>
            </a:pPr>
            <a:r>
              <a:rPr lang="en"/>
              <a:t>There is a lot of research needed in the use of NLP to analyze poetry. Due to the inherent nature of a computer’s limits set out by the limitation of our programming, the comprehension of poetry is not within the scope of a computer’s ability maybe ever.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1953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155" name="Google Shape;15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2A2A2A"/>
                </a:solidFill>
                <a:highlight>
                  <a:srgbClr val="FFFFFF"/>
                </a:highlight>
              </a:rPr>
              <a:t>Mirella De Sisto, Laura Hernández-Lorenzo, Javier De la Rosa, Salvador Ros, Elena González-Blanco, Understanding poetry using natural language processing tools: a survey, </a:t>
            </a:r>
            <a:r>
              <a:rPr i="1" lang="en" sz="1200">
                <a:solidFill>
                  <a:srgbClr val="2A2A2A"/>
                </a:solidFill>
              </a:rPr>
              <a:t>Digital Scholarship in the Humanities</a:t>
            </a:r>
            <a:r>
              <a:rPr lang="en" sz="1200">
                <a:solidFill>
                  <a:srgbClr val="2A2A2A"/>
                </a:solidFill>
                <a:highlight>
                  <a:srgbClr val="FFFFFF"/>
                </a:highlight>
              </a:rPr>
              <a:t>, Volume 39, Issue 2, June 2024, Pages 500–521, </a:t>
            </a:r>
            <a:r>
              <a:rPr lang="en" sz="1200">
                <a:solidFill>
                  <a:srgbClr val="006FB7"/>
                </a:solidFill>
                <a:uFill>
                  <a:noFill/>
                </a:uFill>
                <a:hlinkClick r:id="rId3">
                  <a:extLst>
                    <a:ext uri="{A12FA001-AC4F-418D-AE19-62706E023703}">
                      <ahyp:hlinkClr val="tx"/>
                    </a:ext>
                  </a:extLst>
                </a:hlinkClick>
              </a:rPr>
              <a:t>https://doi.org/10.1093/llc/fqae001</a:t>
            </a:r>
            <a:endParaRPr sz="1200"/>
          </a:p>
          <a:p>
            <a:pPr indent="0" lvl="0" marL="0" rtl="0" algn="l">
              <a:spcBef>
                <a:spcPts val="1200"/>
              </a:spcBef>
              <a:spcAft>
                <a:spcPts val="0"/>
              </a:spcAft>
              <a:buClr>
                <a:schemeClr val="dk1"/>
              </a:buClr>
              <a:buSzPts val="1100"/>
              <a:buFont typeface="Arial"/>
              <a:buNone/>
            </a:pPr>
            <a:r>
              <a:rPr lang="en" sz="1200">
                <a:solidFill>
                  <a:schemeClr val="dk1"/>
                </a:solidFill>
              </a:rPr>
              <a:t>Nair, T. (2023). Natural Language Processing used in sentiment analysis of poetry: a study of six common techniques. </a:t>
            </a:r>
            <a:r>
              <a:rPr i="1" lang="en" sz="1200">
                <a:solidFill>
                  <a:schemeClr val="dk1"/>
                </a:solidFill>
              </a:rPr>
              <a:t>Journal of Student Research</a:t>
            </a:r>
            <a:r>
              <a:rPr lang="en" sz="1200">
                <a:solidFill>
                  <a:schemeClr val="dk1"/>
                </a:solidFill>
              </a:rPr>
              <a:t>, </a:t>
            </a:r>
            <a:r>
              <a:rPr i="1" lang="en" sz="1200">
                <a:solidFill>
                  <a:schemeClr val="dk1"/>
                </a:solidFill>
              </a:rPr>
              <a:t>12</a:t>
            </a:r>
            <a:r>
              <a:rPr lang="en" sz="1200">
                <a:solidFill>
                  <a:schemeClr val="dk1"/>
                </a:solidFill>
              </a:rPr>
              <a:t>(2). https://doi.org/10.47611/jsrhs.v12i2.4418</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1200"/>
              </a:spcAft>
              <a:buNone/>
            </a:pPr>
            <a:r>
              <a:rPr lang="en" sz="1200" u="sng">
                <a:solidFill>
                  <a:schemeClr val="hlink"/>
                </a:solidFill>
                <a:hlinkClick r:id="rId4"/>
              </a:rPr>
              <a:t>https://rforjournalists.com/2019/11/08/using-natural-language-processing-to-discover-themes-in-first-world-war-poetry/</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